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48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1051560"/>
            <a:ext cx="1737360" cy="1737360"/>
          </a:xfrm>
          <a:prstGeom prst="ellipse">
            <a:avLst/>
          </a:prstGeom>
          <a:solidFill>
            <a:srgbClr val="3A322A"/>
          </a:solidFill>
          <a:ln w="15875">
            <a:solidFill>
              <a:srgbClr val="C9A4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69480" y="1417320"/>
            <a:ext cx="1005840" cy="1005840"/>
          </a:xfrm>
          <a:prstGeom prst="ellipse">
            <a:avLst/>
          </a:prstGeom>
          <a:solidFill>
            <a:srgbClr val="2E2823"/>
          </a:solidFill>
          <a:ln w="9525">
            <a:solidFill>
              <a:srgbClr val="B486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16952" y="1764792"/>
            <a:ext cx="310896" cy="310896"/>
          </a:xfrm>
          <a:prstGeom prst="rect">
            <a:avLst/>
          </a:prstGeom>
          <a:solidFill>
            <a:srgbClr val="2E2823"/>
          </a:solidFill>
          <a:ln w="9525">
            <a:solidFill>
              <a:srgbClr val="C9A4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72768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中国古代钱币知识图谱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95528" y="239572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项目技术汇报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04672" y="2962656"/>
            <a:ext cx="1371600" cy="14630"/>
          </a:xfrm>
          <a:prstGeom prst="rect">
            <a:avLst/>
          </a:prstGeom>
          <a:solidFill>
            <a:srgbClr val="B48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3145536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9C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把文献里的钱币记录，整理成可检索、可视化的知识本体系统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411480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99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汇报内容：技术背景 ｜ 系统架构 ｜ 本体设计 ｜ 核心功能 ｜ 质量保障 ｜ 后续规划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8580" cy="420624"/>
          </a:xfrm>
          <a:prstGeom prst="rect">
            <a:avLst/>
          </a:prstGeom>
          <a:solidFill>
            <a:srgbClr val="B48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问题的起点：文献很丰富，数据却很离散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7782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以《中国钱币大辞典》等工具书为原始数据来源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8138160" cy="10973"/>
          </a:xfrm>
          <a:prstGeom prst="rect">
            <a:avLst/>
          </a:prstGeom>
          <a:solidFill>
            <a:srgbClr val="D8C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89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传统资料的三个局限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70332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8379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同名多版式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212140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“天禧通宝·小平钱·楷书阔宝接郭”与其大样、小样各是一条独立记录，靠文字区分。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706624"/>
            <a:ext cx="370332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807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参数散落在正文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" y="309067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直径、孔宽、厚度、重量往往以区间或不等式写在释文中，无法直接统计。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75888"/>
            <a:ext cx="370332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776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关系藏在叙述里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" y="405993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钱币与政权、铸造机构、年号、地域的关联需要读者自行串联，机器无法理解。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0" y="13898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本项目的处理方式：把一段释文拆成结构化字段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737360"/>
            <a:ext cx="4069080" cy="1097280"/>
          </a:xfrm>
          <a:prstGeom prst="roundRect">
            <a:avLst>
              <a:gd name="adj" fmla="val 5000"/>
            </a:avLst>
          </a:prstGeom>
          <a:solidFill>
            <a:srgbClr val="FBF7EE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185623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“天禧通宝·小平钱·楷书阔宝接郭，北宋真宗天禧年间铸，青铜质，方孔圆钱，直径 2.5 厘米。”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2962656"/>
            <a:ext cx="1417320" cy="329184"/>
          </a:xfrm>
          <a:prstGeom prst="rect">
            <a:avLst/>
          </a:prstGeom>
          <a:solidFill>
            <a:srgbClr val="F1E7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296265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53328" y="296265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天禧通宝·小平钱·楷书阔宝接郭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3364992"/>
            <a:ext cx="1417320" cy="329184"/>
          </a:xfrm>
          <a:prstGeom prst="rect">
            <a:avLst/>
          </a:prstGeom>
          <a:solidFill>
            <a:srgbClr val="F1E7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336499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era / regime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053328" y="336499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北宋 · 真宗天禧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3767328"/>
            <a:ext cx="1417320" cy="329184"/>
          </a:xfrm>
          <a:prstGeom prst="rect">
            <a:avLst/>
          </a:prstGeom>
          <a:solidFill>
            <a:srgbClr val="F1E7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5152" y="37673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 / shape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53328" y="376732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青铜 · 方孔圆钱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4169664"/>
            <a:ext cx="1417320" cy="329184"/>
          </a:xfrm>
          <a:prstGeom prst="rect">
            <a:avLst/>
          </a:prstGeom>
          <a:solidFill>
            <a:srgbClr val="F1E7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41696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diameter_cm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53328" y="416966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459028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结构化之后，字段才能被组合筛选，实体之间才能建立关系。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4718304"/>
            <a:ext cx="8138160" cy="9144"/>
          </a:xfrm>
          <a:prstGeom prst="rect">
            <a:avLst/>
          </a:prstGeom>
          <a:solidFill>
            <a:srgbClr val="D8C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75488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1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中国古代钱币知识图谱 · 项目技术汇报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863840" y="47548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8580" cy="420624"/>
          </a:xfrm>
          <a:prstGeom prst="rect">
            <a:avLst/>
          </a:prstGeom>
          <a:solidFill>
            <a:srgbClr val="B48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项目规模：一套已经跑得起来的完整数据与系统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7782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数据来自 SQLite 数据库 real 表统计，非估算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8138160" cy="10973"/>
          </a:xfrm>
          <a:prstGeom prst="rect">
            <a:avLst/>
          </a:prstGeom>
          <a:solidFill>
            <a:srgbClr val="D8C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06654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枚钱币记录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85416" y="148132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185416" y="206654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个时代分组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22192" y="148132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822192" y="206654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类本体实体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58968" y="148132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458968" y="206654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类本体关系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95744" y="148132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7095744" y="206654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组数据属性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487168"/>
            <a:ext cx="8046720" cy="10973"/>
          </a:xfrm>
          <a:prstGeom prst="rect">
            <a:avLst/>
          </a:prstGeom>
          <a:solidFill>
            <a:srgbClr val="D8C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883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数据覆盖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999232"/>
            <a:ext cx="3977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时代跨度：夏商周 → 春秋 → 战国 → 西汉 → 新莽 → 三国 → 晋 → 十六国 → 南北朝</a:t>
            </a:r>
            <a:endParaRPr lang="en-US" sz="1200" dirty="0"/>
          </a:p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材质构成：青铜 19 枚、海贝 4 枚、铜 3 枚</a:t>
            </a:r>
            <a:endParaRPr lang="en-US" sz="1200" dirty="0"/>
          </a:p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形制构成：方孔圆钱 15 枚、贝类 4 枚、针首刀 3 枚、长方版状 3 枚、平肩方足平首布 1 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6883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本体与记录的关系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999232"/>
            <a:ext cx="3749040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3145536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每一枚钱币都是一条 coin 实例记录，通过 15 类关系挂接到政权、铸造机构、年号、地域、材质、形制、书体与文献出处，形成可查询的知识网络。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10912" y="411480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数据仍在持续扩充，结构已具备承载更多断代的能力。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4718304"/>
            <a:ext cx="8138160" cy="9144"/>
          </a:xfrm>
          <a:prstGeom prst="rect">
            <a:avLst/>
          </a:prstGeom>
          <a:solidFill>
            <a:srgbClr val="D8C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75488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1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中国古代钱币知识图谱 · 项目技术汇报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863840" y="47548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8580" cy="420624"/>
          </a:xfrm>
          <a:prstGeom prst="rect">
            <a:avLst/>
          </a:prstGeom>
          <a:solidFill>
            <a:srgbClr val="B48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本体设计：用九层结构组织钱币知识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7782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类实体、15 类关系、10 组数据属性，来源为项目本体文档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8138160" cy="10973"/>
          </a:xfrm>
          <a:prstGeom prst="rect">
            <a:avLst/>
          </a:prstGeom>
          <a:solidFill>
            <a:srgbClr val="D8C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89888"/>
            <a:ext cx="50292" cy="310896"/>
          </a:xfrm>
          <a:prstGeom prst="rect">
            <a:avLst/>
          </a:prstGeom>
          <a:solidFill>
            <a:srgbClr val="B48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3898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139696" y="138988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Coin（钱币实例）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719072"/>
            <a:ext cx="5340096" cy="7315"/>
          </a:xfrm>
          <a:prstGeom prst="rect">
            <a:avLst/>
          </a:prstGeom>
          <a:solidFill>
            <a:srgbClr val="EDE4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755648"/>
            <a:ext cx="50292" cy="310896"/>
          </a:xfrm>
          <a:prstGeom prst="rect">
            <a:avLst/>
          </a:prstGeom>
          <a:solidFill>
            <a:srgbClr val="8F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17556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抽象层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139696" y="17556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CoinType 钱币类型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084832"/>
            <a:ext cx="5340096" cy="7315"/>
          </a:xfrm>
          <a:prstGeom prst="rect">
            <a:avLst/>
          </a:prstGeom>
          <a:solidFill>
            <a:srgbClr val="EDE4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121408"/>
            <a:ext cx="50292" cy="310896"/>
          </a:xfrm>
          <a:prstGeom prst="rect">
            <a:avLst/>
          </a:prstGeom>
          <a:solidFill>
            <a:srgbClr val="4A7B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212140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制度与人物层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139696" y="21214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Regime 政权 · Mint 铸造机构 · Person 历史人物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450592"/>
            <a:ext cx="5340096" cy="7315"/>
          </a:xfrm>
          <a:prstGeom prst="rect">
            <a:avLst/>
          </a:prstGeom>
          <a:solidFill>
            <a:srgbClr val="EDE4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487168"/>
            <a:ext cx="50292" cy="310896"/>
          </a:xfrm>
          <a:prstGeom prst="rect">
            <a:avLst/>
          </a:prstGeom>
          <a:solidFill>
            <a:srgbClr val="3F9D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24871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年代归属层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139696" y="24871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Era 年号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816352"/>
            <a:ext cx="5340096" cy="7315"/>
          </a:xfrm>
          <a:prstGeom prst="rect">
            <a:avLst/>
          </a:prstGeom>
          <a:solidFill>
            <a:srgbClr val="EDE4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2852928"/>
            <a:ext cx="50292" cy="310896"/>
          </a:xfrm>
          <a:prstGeom prst="rect">
            <a:avLst/>
          </a:prstGeom>
          <a:solidFill>
            <a:srgbClr val="B06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" y="28529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地域归属层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139696" y="28529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Region 地区 · Area 出土地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182112"/>
            <a:ext cx="5340096" cy="7315"/>
          </a:xfrm>
          <a:prstGeom prst="rect">
            <a:avLst/>
          </a:prstGeom>
          <a:solidFill>
            <a:srgbClr val="EDE4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218688"/>
            <a:ext cx="50292" cy="310896"/>
          </a:xfrm>
          <a:prstGeom prst="rect">
            <a:avLst/>
          </a:prstGeom>
          <a:solidFill>
            <a:srgbClr val="8A8F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" y="32186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流通路径层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139696" y="321868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 流通路线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547872"/>
            <a:ext cx="5340096" cy="7315"/>
          </a:xfrm>
          <a:prstGeom prst="rect">
            <a:avLst/>
          </a:prstGeom>
          <a:solidFill>
            <a:srgbClr val="EDE4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584448"/>
            <a:ext cx="50292" cy="310896"/>
          </a:xfrm>
          <a:prstGeom prst="rect">
            <a:avLst/>
          </a:prstGeom>
          <a:solidFill>
            <a:srgbClr val="7A8F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" y="35844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物质属性层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139696" y="35844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 材质 · Shape 形制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3913632"/>
            <a:ext cx="5340096" cy="7315"/>
          </a:xfrm>
          <a:prstGeom prst="rect">
            <a:avLst/>
          </a:prstGeom>
          <a:solidFill>
            <a:srgbClr val="EDE4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3950208"/>
            <a:ext cx="50292" cy="310896"/>
          </a:xfrm>
          <a:prstGeom prst="rect">
            <a:avLst/>
          </a:prstGeom>
          <a:solidFill>
            <a:srgbClr val="B854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395020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文字属性层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139696" y="39502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Script 钱文书体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4279392"/>
            <a:ext cx="5340096" cy="7315"/>
          </a:xfrm>
          <a:prstGeom prst="rect">
            <a:avLst/>
          </a:prstGeom>
          <a:solidFill>
            <a:srgbClr val="EDE4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4315968"/>
            <a:ext cx="50292" cy="310896"/>
          </a:xfrm>
          <a:prstGeom prst="rect">
            <a:avLst/>
          </a:prstGeom>
          <a:solidFill>
            <a:srgbClr val="5F7A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43159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溯源层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2139696" y="43159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Source_ref 文献出处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53328" y="1389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关系统一以“主体 → 关系 → 客体”表达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053328" y="1737360"/>
            <a:ext cx="841248" cy="329184"/>
          </a:xfrm>
          <a:prstGeom prst="roundRect">
            <a:avLst>
              <a:gd name="adj" fmla="val 22222"/>
            </a:avLst>
          </a:prstGeom>
          <a:solidFill>
            <a:srgbClr val="FBF6EA"/>
          </a:solidFill>
          <a:ln w="9525">
            <a:solidFill>
              <a:srgbClr val="B486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53328" y="173736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coin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12864" y="1901952"/>
            <a:ext cx="365760" cy="0"/>
          </a:xfrm>
          <a:prstGeom prst="line">
            <a:avLst/>
          </a:prstGeom>
          <a:noFill/>
          <a:ln w="15875">
            <a:solidFill>
              <a:srgbClr val="B4863C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6931152" y="15361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issuedBy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296912" y="1737360"/>
            <a:ext cx="1298448" cy="329184"/>
          </a:xfrm>
          <a:prstGeom prst="roundRect">
            <a:avLst>
              <a:gd name="adj" fmla="val 22222"/>
            </a:avLst>
          </a:prstGeom>
          <a:solidFill>
            <a:srgbClr val="F1E7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96912" y="173736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Regime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053328" y="2249424"/>
            <a:ext cx="841248" cy="329184"/>
          </a:xfrm>
          <a:prstGeom prst="roundRect">
            <a:avLst>
              <a:gd name="adj" fmla="val 22222"/>
            </a:avLst>
          </a:prstGeom>
          <a:solidFill>
            <a:srgbClr val="FBF6EA"/>
          </a:solidFill>
          <a:ln w="9525">
            <a:solidFill>
              <a:srgbClr val="B486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53328" y="2249424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coin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12864" y="2414016"/>
            <a:ext cx="365760" cy="0"/>
          </a:xfrm>
          <a:prstGeom prst="line">
            <a:avLst/>
          </a:prstGeom>
          <a:noFill/>
          <a:ln w="15875">
            <a:solidFill>
              <a:srgbClr val="B4863C"/>
            </a:solidFill>
            <a:prstDash val="solid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6931152" y="2048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mintedAt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296912" y="2249424"/>
            <a:ext cx="1298448" cy="329184"/>
          </a:xfrm>
          <a:prstGeom prst="roundRect">
            <a:avLst>
              <a:gd name="adj" fmla="val 22222"/>
            </a:avLst>
          </a:prstGeom>
          <a:solidFill>
            <a:srgbClr val="F1E7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96912" y="2249424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053328" y="2761488"/>
            <a:ext cx="841248" cy="329184"/>
          </a:xfrm>
          <a:prstGeom prst="roundRect">
            <a:avLst>
              <a:gd name="adj" fmla="val 22222"/>
            </a:avLst>
          </a:prstGeom>
          <a:solidFill>
            <a:srgbClr val="FBF6EA"/>
          </a:solidFill>
          <a:ln w="9525">
            <a:solidFill>
              <a:srgbClr val="B486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53328" y="276148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coin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12864" y="2926080"/>
            <a:ext cx="365760" cy="0"/>
          </a:xfrm>
          <a:prstGeom prst="line">
            <a:avLst/>
          </a:prstGeom>
          <a:noFill/>
          <a:ln w="15875">
            <a:solidFill>
              <a:srgbClr val="B4863C"/>
            </a:solidFill>
            <a:prstDash val="solid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6931152" y="2560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isVariantOf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296912" y="2761488"/>
            <a:ext cx="1298448" cy="329184"/>
          </a:xfrm>
          <a:prstGeom prst="roundRect">
            <a:avLst>
              <a:gd name="adj" fmla="val 22222"/>
            </a:avLst>
          </a:prstGeom>
          <a:solidFill>
            <a:srgbClr val="F1E7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96912" y="276148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CoinType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053328" y="3273552"/>
            <a:ext cx="841248" cy="329184"/>
          </a:xfrm>
          <a:prstGeom prst="roundRect">
            <a:avLst>
              <a:gd name="adj" fmla="val 22222"/>
            </a:avLst>
          </a:prstGeom>
          <a:solidFill>
            <a:srgbClr val="FBF6EA"/>
          </a:solidFill>
          <a:ln w="9525">
            <a:solidFill>
              <a:srgbClr val="B4863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53328" y="327355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coin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912864" y="3438144"/>
            <a:ext cx="365760" cy="0"/>
          </a:xfrm>
          <a:prstGeom prst="line">
            <a:avLst/>
          </a:prstGeom>
          <a:noFill/>
          <a:ln w="15875">
            <a:solidFill>
              <a:srgbClr val="B4863C"/>
            </a:solidFill>
            <a:prstDash val="solid"/>
            <a:tailEnd type="triangle"/>
          </a:ln>
        </p:spPr>
      </p:sp>
      <p:sp>
        <p:nvSpPr>
          <p:cNvPr id="63" name="Text 61"/>
          <p:cNvSpPr/>
          <p:nvPr/>
        </p:nvSpPr>
        <p:spPr>
          <a:xfrm>
            <a:off x="6931152" y="30723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madeOf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296912" y="3273552"/>
            <a:ext cx="1298448" cy="329184"/>
          </a:xfrm>
          <a:prstGeom prst="roundRect">
            <a:avLst>
              <a:gd name="adj" fmla="val 22222"/>
            </a:avLst>
          </a:prstGeom>
          <a:solidFill>
            <a:srgbClr val="F1E7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96912" y="327355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053328" y="3785616"/>
            <a:ext cx="841248" cy="329184"/>
          </a:xfrm>
          <a:prstGeom prst="roundRect">
            <a:avLst>
              <a:gd name="adj" fmla="val 22222"/>
            </a:avLst>
          </a:prstGeom>
          <a:solidFill>
            <a:srgbClr val="FBF6EA"/>
          </a:solidFill>
          <a:ln w="9525">
            <a:solidFill>
              <a:srgbClr val="B4863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053328" y="3785616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coin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912864" y="3950208"/>
            <a:ext cx="365760" cy="0"/>
          </a:xfrm>
          <a:prstGeom prst="line">
            <a:avLst/>
          </a:prstGeom>
          <a:noFill/>
          <a:ln w="15875">
            <a:solidFill>
              <a:srgbClr val="B4863C"/>
            </a:solidFill>
            <a:prstDash val="solid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6931152" y="35844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circulatesIn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7296912" y="3785616"/>
            <a:ext cx="1298448" cy="329184"/>
          </a:xfrm>
          <a:prstGeom prst="roundRect">
            <a:avLst>
              <a:gd name="adj" fmla="val 22222"/>
            </a:avLst>
          </a:prstGeom>
          <a:solidFill>
            <a:srgbClr val="F1E7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96912" y="3785616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Region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053328" y="43708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关系同时约束了定义域与值域，保证数据录入不会产生孤立实体。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02920" y="4718304"/>
            <a:ext cx="8138160" cy="9144"/>
          </a:xfrm>
          <a:prstGeom prst="rect">
            <a:avLst/>
          </a:prstGeom>
          <a:solidFill>
            <a:srgbClr val="D8C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2920" y="475488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1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中国古代钱币知识图谱 · 项目技术汇报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7863840" y="47548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8580" cy="420624"/>
          </a:xfrm>
          <a:prstGeom prst="rect">
            <a:avLst/>
          </a:prstGeom>
          <a:solidFill>
            <a:srgbClr val="B48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系统架构：原生 HTML + Flask + SQLite 的轻量三层结构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7782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无需构建工具即可运行，技术栈为 Flask + SQLite + 原生 CSS / JavaScript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8138160" cy="10973"/>
          </a:xfrm>
          <a:prstGeom prst="rect">
            <a:avLst/>
          </a:prstGeom>
          <a:solidFill>
            <a:srgbClr val="D8C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44752"/>
            <a:ext cx="2651760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44752"/>
            <a:ext cx="2651760" cy="68580"/>
          </a:xfrm>
          <a:prstGeom prst="rect">
            <a:avLst/>
          </a:prstGeom>
          <a:solidFill>
            <a:srgbClr val="B48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60934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原生前端，单页切换，无需构建工具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3232" y="2231136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30000"/>
              </a:lnSpc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index.html 单页结构</a:t>
            </a:r>
            <a:endParaRPr lang="en-US" sz="1100" dirty="0"/>
          </a:p>
          <a:p>
            <a:pPr marL="152400" indent="-152400">
              <a:lnSpc>
                <a:spcPct val="130000"/>
              </a:lnSpc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app.js 约 3.6k 行交互逻辑</a:t>
            </a:r>
            <a:endParaRPr lang="en-US" sz="1100" dirty="0"/>
          </a:p>
          <a:p>
            <a:pPr marL="152400" indent="-152400">
              <a:lnSpc>
                <a:spcPct val="130000"/>
              </a:lnSpc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style.css 约 3.4k 行国风样式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36976" y="2688336"/>
            <a:ext cx="109728" cy="0"/>
          </a:xfrm>
          <a:prstGeom prst="line">
            <a:avLst/>
          </a:prstGeom>
          <a:noFill/>
          <a:ln w="15875">
            <a:solidFill>
              <a:srgbClr val="B4863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83280" y="1444752"/>
            <a:ext cx="2651760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444752"/>
            <a:ext cx="2651760" cy="68580"/>
          </a:xfrm>
          <a:prstGeom prst="rect">
            <a:avLst/>
          </a:prstGeom>
          <a:solidFill>
            <a:srgbClr val="B48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60934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47872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 提供 REST 接口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47872" y="2231136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30000"/>
              </a:lnSpc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个 API 路由</a:t>
            </a:r>
            <a:endParaRPr lang="en-US" sz="1100" dirty="0"/>
          </a:p>
          <a:p>
            <a:pPr marL="152400" indent="-152400">
              <a:lnSpc>
                <a:spcPct val="130000"/>
              </a:lnSpc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登录与会话管理</a:t>
            </a:r>
            <a:endParaRPr lang="en-US" sz="1100" dirty="0"/>
          </a:p>
          <a:p>
            <a:pPr marL="152400" indent="-152400">
              <a:lnSpc>
                <a:spcPct val="130000"/>
              </a:lnSpc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翻译接口与缓存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71616" y="2688336"/>
            <a:ext cx="109728" cy="0"/>
          </a:xfrm>
          <a:prstGeom prst="line">
            <a:avLst/>
          </a:prstGeom>
          <a:noFill/>
          <a:ln w="15875">
            <a:solidFill>
              <a:srgbClr val="B4863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17920" y="1444752"/>
            <a:ext cx="2651760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444752"/>
            <a:ext cx="2651760" cy="68580"/>
          </a:xfrm>
          <a:prstGeom prst="rect">
            <a:avLst/>
          </a:prstGeom>
          <a:solidFill>
            <a:srgbClr val="B48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160934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82512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单文件存储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82512" y="2231136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30000"/>
              </a:lnSpc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张本体实体表</a:t>
            </a:r>
            <a:endParaRPr lang="en-US" sz="1100" dirty="0"/>
          </a:p>
          <a:p>
            <a:pPr marL="152400" indent="-152400">
              <a:lnSpc>
                <a:spcPct val="130000"/>
              </a:lnSpc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relationships 关系表</a:t>
            </a:r>
            <a:endParaRPr lang="en-US" sz="1100" dirty="0"/>
          </a:p>
          <a:p>
            <a:pPr marL="152400" indent="-152400">
              <a:lnSpc>
                <a:spcPct val="130000"/>
              </a:lnSpc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coins 实例表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78224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FBF7EE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4169664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选型考虑：项目规模小、部署环境受限，因此放弃前端框架，用原生 HTML 实现以降低部署成本，同时保留完整的图谱交互能力。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4718304"/>
            <a:ext cx="8138160" cy="9144"/>
          </a:xfrm>
          <a:prstGeom prst="rect">
            <a:avLst/>
          </a:prstGeom>
          <a:solidFill>
            <a:srgbClr val="D8C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75488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1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中国古代钱币知识图谱 · 项目技术汇报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863840" y="47548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8580" cy="420624"/>
          </a:xfrm>
          <a:prstGeom prst="rect">
            <a:avLst/>
          </a:prstGeom>
          <a:solidFill>
            <a:srgbClr val="B48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数据层：表族划分与幂等迁移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7782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server.py 中 init_db() 负责建表、补列与初始数据填充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8138160" cy="10973"/>
          </a:xfrm>
          <a:prstGeom prst="rect">
            <a:avLst/>
          </a:prstGeom>
          <a:solidFill>
            <a:srgbClr val="D8C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三类表分工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9776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7922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实例表　·　coins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208483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记录每一枚钱币的字段与测量值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39776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7066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本体实体表　·　12 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" y="299923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coin_types / regimes / mints / persons / eras / regions / routes / areas / materials / shapes / scripts / source_refs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529584"/>
            <a:ext cx="39776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6210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关系表　·　relationships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" y="391363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subject / predicate / object 三元组承载 15 类关系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00016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面向已有数据库的兼容处理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0016" y="1700784"/>
            <a:ext cx="3913632" cy="1243584"/>
          </a:xfrm>
          <a:prstGeom prst="roundRect">
            <a:avLst>
              <a:gd name="adj" fmla="val 4412"/>
            </a:avLst>
          </a:prstGeom>
          <a:solidFill>
            <a:srgbClr val="2E2823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182880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9A4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PRAGMA table_info(coins)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DC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比对 extended_coin_columns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DC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ALTER TABLE ADD COLUMN（缺列才补）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0016" y="3072384"/>
            <a:ext cx="3913632" cy="1481328"/>
          </a:xfrm>
          <a:prstGeom prst="roundRect">
            <a:avLst>
              <a:gd name="adj" fmla="val 3704"/>
            </a:avLst>
          </a:prstGeom>
          <a:solidFill>
            <a:srgbClr val="FBF7EE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31821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为什么要幂等迁移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4608" y="345643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项目随着数据源扩充不断新增字段（如 alias、excavation_site、mint_name、timelineYear），旧库不需要重建即可升级。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建表语句统一使用 CREATE TABLE IF NOT EXISTS，重复启动不会破坏已有数据。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718304"/>
            <a:ext cx="8138160" cy="9144"/>
          </a:xfrm>
          <a:prstGeom prst="rect">
            <a:avLst/>
          </a:prstGeom>
          <a:solidFill>
            <a:srgbClr val="D8C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75488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1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中国古代钱币知识图谱 · 项目技术汇报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63840" y="47548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8580" cy="420624"/>
          </a:xfrm>
          <a:prstGeom prst="rect">
            <a:avLst/>
          </a:prstGeom>
          <a:solidFill>
            <a:srgbClr val="B48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服务层：11 个 REST 路由支撑全部界面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7782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server.py 中的接口按用途分为四组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8138160" cy="10973"/>
          </a:xfrm>
          <a:prstGeom prst="rect">
            <a:avLst/>
          </a:prstGeom>
          <a:solidFill>
            <a:srgbClr val="D8C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3529584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63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数据读取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17373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3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/api/coins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13232" y="1920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3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/api/ontology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3232" y="2103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3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/api/stats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3232" y="22860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3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/api/health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61104" y="1371600"/>
            <a:ext cx="3529584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25696" y="1463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数据维护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25696" y="17373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3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/api/coins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25696" y="1920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3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/api/coins/bulk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25696" y="2103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3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/api/coins/&lt;id&gt;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578608"/>
            <a:ext cx="3529584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6700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会话与权限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13232" y="29443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3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/api/session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13232" y="31272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3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/api/login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13232" y="33101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3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/api/logout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61104" y="2578608"/>
            <a:ext cx="3529584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25696" y="26700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辅助能力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425696" y="29443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3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/api/translate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25696" y="31272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3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带缓存的批量翻译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38404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检索能力：三入口并存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114800"/>
            <a:ext cx="1298448" cy="310896"/>
          </a:xfrm>
          <a:prstGeom prst="roundRect">
            <a:avLst>
              <a:gd name="adj" fmla="val 26471"/>
            </a:avLst>
          </a:prstGeom>
          <a:solidFill>
            <a:srgbClr val="FBF6EA"/>
          </a:solidFill>
          <a:ln w="9525">
            <a:solidFill>
              <a:srgbClr val="B486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11480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分面下拉筛选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920240" y="4114800"/>
            <a:ext cx="1389888" cy="310896"/>
          </a:xfrm>
          <a:prstGeom prst="roundRect">
            <a:avLst>
              <a:gd name="adj" fmla="val 26471"/>
            </a:avLst>
          </a:prstGeom>
          <a:solidFill>
            <a:srgbClr val="FBF6EA"/>
          </a:solidFill>
          <a:ln w="9525">
            <a:solidFill>
              <a:srgbClr val="B486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20240" y="41148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关键词全文检索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83280" y="4114800"/>
            <a:ext cx="1481328" cy="310896"/>
          </a:xfrm>
          <a:prstGeom prst="roundRect">
            <a:avLst>
              <a:gd name="adj" fmla="val 26471"/>
            </a:avLst>
          </a:prstGeom>
          <a:solidFill>
            <a:srgbClr val="FBF6EA"/>
          </a:solidFill>
          <a:ln w="9525">
            <a:solidFill>
              <a:srgbClr val="B486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411480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字段:值 语法查询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48056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例：材质:青铜 形制:方孔圆钱 → 由前端解析为多个属性条件后与分面筛选叠加生效。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4718304"/>
            <a:ext cx="8138160" cy="9144"/>
          </a:xfrm>
          <a:prstGeom prst="rect">
            <a:avLst/>
          </a:prstGeom>
          <a:solidFill>
            <a:srgbClr val="D8C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75488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1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中国古代钱币知识图谱 · 项目技术汇报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863840" y="47548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8580" cy="420624"/>
          </a:xfrm>
          <a:prstGeom prst="rect">
            <a:avLst/>
          </a:prstGeom>
          <a:solidFill>
            <a:srgbClr val="B48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功能一：数字藏品页 · 分面检索与卡片浏览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7782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枚钱币以三列卡片呈现：方孔圆钱 15、贝类 4、针首刀 3 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8138160" cy="10973"/>
          </a:xfrm>
          <a:prstGeom prst="rect">
            <a:avLst/>
          </a:prstGeom>
          <a:solidFill>
            <a:srgbClr val="D8C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材质分布（按记录数）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青铜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371600" y="1792224"/>
            <a:ext cx="2743200" cy="164592"/>
          </a:xfrm>
          <a:prstGeom prst="rect">
            <a:avLst/>
          </a:prstGeom>
          <a:solidFill>
            <a:srgbClr val="EDE4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792224"/>
            <a:ext cx="2004646" cy="164592"/>
          </a:xfrm>
          <a:prstGeom prst="rect">
            <a:avLst/>
          </a:prstGeom>
          <a:solidFill>
            <a:srgbClr val="B48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9664" y="1737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枚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3042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371600" y="2359152"/>
            <a:ext cx="2743200" cy="164592"/>
          </a:xfrm>
          <a:prstGeom prst="rect">
            <a:avLst/>
          </a:prstGeom>
          <a:solidFill>
            <a:srgbClr val="EDE4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2359152"/>
            <a:ext cx="422031" cy="164592"/>
          </a:xfrm>
          <a:prstGeom prst="rect">
            <a:avLst/>
          </a:prstGeom>
          <a:solidFill>
            <a:srgbClr val="B48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9664" y="23042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枚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8712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铜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371600" y="2926080"/>
            <a:ext cx="2743200" cy="164592"/>
          </a:xfrm>
          <a:prstGeom prst="rect">
            <a:avLst/>
          </a:prstGeom>
          <a:solidFill>
            <a:srgbClr val="EDE4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2926080"/>
            <a:ext cx="316523" cy="164592"/>
          </a:xfrm>
          <a:prstGeom prst="rect">
            <a:avLst/>
          </a:prstGeom>
          <a:solidFill>
            <a:srgbClr val="B48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9664" y="28712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枚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4381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形制分布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69417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方孔圆钱 15 · 贝类 4 · 针首刀 3 · 长方版状 3 · 平肩方足平首布 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卡片与检索的联动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1719072"/>
            <a:ext cx="37490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92624" y="17739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分面筛选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92624" y="19933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时代、材质、产地、类型、形制、书体、钱文、出土地八类条件可叠加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432304"/>
            <a:ext cx="37490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92624" y="24871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结果统计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92624" y="270662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顶部实时显示“共 N 条结果”，空结果给空状态提示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145536"/>
            <a:ext cx="37490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92624" y="32004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详情弹层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992624" y="341985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点击卡片展开钱币详情，含测量值与来源字段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858768"/>
            <a:ext cx="37490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92624" y="39136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图谱联动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92624" y="41330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检索条件被解释为关系路径，同步刷新关系快照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4718304"/>
            <a:ext cx="8138160" cy="9144"/>
          </a:xfrm>
          <a:prstGeom prst="rect">
            <a:avLst/>
          </a:prstGeom>
          <a:solidFill>
            <a:srgbClr val="D8C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75488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1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中国古代钱币知识图谱 · 项目技术汇报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863840" y="47548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8580" cy="420624"/>
          </a:xfrm>
          <a:prstGeom prst="rect">
            <a:avLst/>
          </a:prstGeom>
          <a:solidFill>
            <a:srgbClr val="B48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功能二：时间轴 · 把 9 个时代铺成一条流转长卷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7782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支持播放流转、点击朝代条聚焦某个时代，节点自动错层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8138160" cy="10973"/>
          </a:xfrm>
          <a:prstGeom prst="rect">
            <a:avLst/>
          </a:prstGeom>
          <a:solidFill>
            <a:srgbClr val="D8C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8046720" cy="2084832"/>
          </a:xfrm>
          <a:prstGeom prst="roundRect">
            <a:avLst>
              <a:gd name="adj" fmla="val 2632"/>
            </a:avLst>
          </a:prstGeom>
          <a:solidFill>
            <a:srgbClr val="2E2823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414016"/>
            <a:ext cx="123444" cy="63790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2124" y="2477806"/>
            <a:ext cx="123444" cy="62177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" y="2539983"/>
            <a:ext cx="123444" cy="59014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9012" y="2598997"/>
            <a:ext cx="123444" cy="54421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62456" y="2653417"/>
            <a:ext cx="123444" cy="48573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5900" y="2701990"/>
            <a:ext cx="123444" cy="41689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9344" y="2743679"/>
            <a:ext cx="123444" cy="34024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32788" y="2777704"/>
            <a:ext cx="123444" cy="25856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56232" y="2803559"/>
            <a:ext cx="123444" cy="17471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79676" y="2821030"/>
            <a:ext cx="123444" cy="9154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03120" y="2830184"/>
            <a:ext cx="123444" cy="1174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2226564" y="2825130"/>
            <a:ext cx="123444" cy="6228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2350008" y="2812282"/>
            <a:ext cx="123444" cy="12848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2473452" y="2793751"/>
            <a:ext cx="123444" cy="18531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2596896" y="2770581"/>
            <a:ext cx="123444" cy="23170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2720340" y="2743865"/>
            <a:ext cx="123444" cy="26716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2843784" y="2714691"/>
            <a:ext cx="123444" cy="29174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2967228" y="2684091"/>
            <a:ext cx="123444" cy="30601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3090672" y="2652987"/>
            <a:ext cx="123444" cy="31103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3214116" y="2622163"/>
            <a:ext cx="123444" cy="30824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3337560" y="2592226"/>
            <a:ext cx="123444" cy="29937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3461004" y="2563590"/>
            <a:ext cx="123444" cy="28636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3584448" y="2536468"/>
            <a:ext cx="123444" cy="27122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3707892" y="2510879"/>
            <a:ext cx="123444" cy="25589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3831336" y="2486663"/>
            <a:ext cx="123444" cy="24216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3954780" y="2463508"/>
            <a:ext cx="123444" cy="23155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4078224" y="2440987"/>
            <a:ext cx="123444" cy="22521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4201668" y="2418599"/>
            <a:ext cx="123444" cy="22388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4325112" y="2395819"/>
            <a:ext cx="123444" cy="22781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4448556" y="2372139"/>
            <a:ext cx="123444" cy="23679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4572000" y="2347127"/>
            <a:ext cx="123444" cy="25012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4695444" y="2320460"/>
            <a:ext cx="123444" cy="26667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4818888" y="2291967"/>
            <a:ext cx="123444" cy="28493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4942332" y="2261655"/>
            <a:ext cx="123444" cy="30312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5065776" y="2229728"/>
            <a:ext cx="123444" cy="31927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5189220" y="2196593"/>
            <a:ext cx="123444" cy="33135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5312664" y="2162856"/>
            <a:ext cx="123444" cy="33737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5436108" y="2129302"/>
            <a:ext cx="123444" cy="33553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5559552" y="2096872"/>
            <a:ext cx="123444" cy="32430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5682996" y="2066616"/>
            <a:ext cx="123444" cy="30255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5806440" y="2039658"/>
            <a:ext cx="123444" cy="26959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5929884" y="2017131"/>
            <a:ext cx="123444" cy="22527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6053328" y="2000131"/>
            <a:ext cx="123444" cy="17000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6176772" y="1989657"/>
            <a:ext cx="123444" cy="10474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6300216" y="1986559"/>
            <a:ext cx="123444" cy="3098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23660" y="1986559"/>
            <a:ext cx="123444" cy="4932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47104" y="1991491"/>
            <a:ext cx="123444" cy="13378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70548" y="2004869"/>
            <a:ext cx="123444" cy="21974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93992" y="2026842"/>
            <a:ext cx="123444" cy="30434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917436" y="2057276"/>
            <a:ext cx="123444" cy="38467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40880" y="2095743"/>
            <a:ext cx="123444" cy="45790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164324" y="2141533"/>
            <a:ext cx="123444" cy="52141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287768" y="2193674"/>
            <a:ext cx="123444" cy="57288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411212" y="2250962"/>
            <a:ext cx="123444" cy="61045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534656" y="2312007"/>
            <a:ext cx="123444" cy="63278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658100" y="2375285"/>
            <a:ext cx="123444" cy="63908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81544" y="2439193"/>
            <a:ext cx="123444" cy="62921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904988" y="2502114"/>
            <a:ext cx="123444" cy="60364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028432" y="2562478"/>
            <a:ext cx="123444" cy="56344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151876" y="2618822"/>
            <a:ext cx="123444" cy="51022"/>
          </a:xfrm>
          <a:prstGeom prst="line">
            <a:avLst/>
          </a:prstGeom>
          <a:noFill/>
          <a:ln w="20320">
            <a:solidFill>
              <a:srgbClr val="C9A45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1313078" y="2175085"/>
            <a:ext cx="0" cy="457200"/>
          </a:xfrm>
          <a:prstGeom prst="line">
            <a:avLst/>
          </a:prstGeom>
          <a:noFill/>
          <a:ln w="9525">
            <a:solidFill>
              <a:srgbClr val="8A7A6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03350" y="2065357"/>
            <a:ext cx="219456" cy="219456"/>
          </a:xfrm>
          <a:prstGeom prst="ellipse">
            <a:avLst/>
          </a:prstGeom>
          <a:solidFill>
            <a:srgbClr val="B4863C"/>
          </a:solidFill>
          <a:ln w="9525">
            <a:solidFill>
              <a:srgbClr val="E8DCC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38758" y="2303101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201875" y="2831737"/>
            <a:ext cx="0" cy="457200"/>
          </a:xfrm>
          <a:prstGeom prst="line">
            <a:avLst/>
          </a:prstGeom>
          <a:noFill/>
          <a:ln w="9525">
            <a:solidFill>
              <a:srgbClr val="8A7A6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092147" y="3179209"/>
            <a:ext cx="219456" cy="219456"/>
          </a:xfrm>
          <a:prstGeom prst="ellipse">
            <a:avLst/>
          </a:prstGeom>
          <a:solidFill>
            <a:srgbClr val="B4863C"/>
          </a:solidFill>
          <a:ln w="9525">
            <a:solidFill>
              <a:srgbClr val="E8DCC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27555" y="3416953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春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 flipV="1">
            <a:off x="3090672" y="2226890"/>
            <a:ext cx="0" cy="457200"/>
          </a:xfrm>
          <a:prstGeom prst="line">
            <a:avLst/>
          </a:prstGeom>
          <a:noFill/>
          <a:ln w="9525">
            <a:solidFill>
              <a:srgbClr val="8A7A6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980944" y="2117162"/>
            <a:ext cx="219456" cy="219456"/>
          </a:xfrm>
          <a:prstGeom prst="ellipse">
            <a:avLst/>
          </a:prstGeom>
          <a:solidFill>
            <a:srgbClr val="B4863C"/>
          </a:solidFill>
          <a:ln w="9525">
            <a:solidFill>
              <a:srgbClr val="E8DCC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816352" y="235490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201668" y="2440987"/>
            <a:ext cx="0" cy="457200"/>
          </a:xfrm>
          <a:prstGeom prst="line">
            <a:avLst/>
          </a:prstGeom>
          <a:noFill/>
          <a:ln w="9525">
            <a:solidFill>
              <a:srgbClr val="8A7A6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091940" y="2788459"/>
            <a:ext cx="219456" cy="219456"/>
          </a:xfrm>
          <a:prstGeom prst="ellipse">
            <a:avLst/>
          </a:prstGeom>
          <a:solidFill>
            <a:srgbClr val="B4863C"/>
          </a:solidFill>
          <a:ln w="9525">
            <a:solidFill>
              <a:srgbClr val="E8DCC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927348" y="3026203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汉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 flipV="1">
            <a:off x="4942332" y="1834767"/>
            <a:ext cx="0" cy="457200"/>
          </a:xfrm>
          <a:prstGeom prst="line">
            <a:avLst/>
          </a:prstGeom>
          <a:noFill/>
          <a:ln w="9525">
            <a:solidFill>
              <a:srgbClr val="8A7A6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832604" y="1725039"/>
            <a:ext cx="219456" cy="219456"/>
          </a:xfrm>
          <a:prstGeom prst="ellipse">
            <a:avLst/>
          </a:prstGeom>
          <a:solidFill>
            <a:srgbClr val="B4863C"/>
          </a:solidFill>
          <a:ln w="9525">
            <a:solidFill>
              <a:srgbClr val="E8DCC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668012" y="1962783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5757062" y="2078387"/>
            <a:ext cx="0" cy="457200"/>
          </a:xfrm>
          <a:prstGeom prst="line">
            <a:avLst/>
          </a:prstGeom>
          <a:noFill/>
          <a:ln w="9525">
            <a:solidFill>
              <a:srgbClr val="8A7A6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647334" y="2425859"/>
            <a:ext cx="219456" cy="219456"/>
          </a:xfrm>
          <a:prstGeom prst="ellipse">
            <a:avLst/>
          </a:prstGeom>
          <a:solidFill>
            <a:srgbClr val="B4863C"/>
          </a:solidFill>
          <a:ln w="9525">
            <a:solidFill>
              <a:srgbClr val="E8DCC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482742" y="2663603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 flipV="1">
            <a:off x="6497726" y="1531322"/>
            <a:ext cx="0" cy="457200"/>
          </a:xfrm>
          <a:prstGeom prst="line">
            <a:avLst/>
          </a:prstGeom>
          <a:noFill/>
          <a:ln w="9525">
            <a:solidFill>
              <a:srgbClr val="8A7A6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387998" y="1421594"/>
            <a:ext cx="219456" cy="219456"/>
          </a:xfrm>
          <a:prstGeom prst="ellipse">
            <a:avLst/>
          </a:prstGeom>
          <a:solidFill>
            <a:srgbClr val="B4863C"/>
          </a:solidFill>
          <a:ln w="9525">
            <a:solidFill>
              <a:srgbClr val="E8DCC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223406" y="165933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晋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7164324" y="2141533"/>
            <a:ext cx="0" cy="457200"/>
          </a:xfrm>
          <a:prstGeom prst="line">
            <a:avLst/>
          </a:prstGeom>
          <a:noFill/>
          <a:ln w="9525">
            <a:solidFill>
              <a:srgbClr val="8A7A6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054596" y="2489005"/>
            <a:ext cx="219456" cy="219456"/>
          </a:xfrm>
          <a:prstGeom prst="ellipse">
            <a:avLst/>
          </a:prstGeom>
          <a:solidFill>
            <a:srgbClr val="B4863C"/>
          </a:solidFill>
          <a:ln w="9525">
            <a:solidFill>
              <a:srgbClr val="E8DCC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890004" y="2726749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 flipV="1">
            <a:off x="7756855" y="1969239"/>
            <a:ext cx="0" cy="457200"/>
          </a:xfrm>
          <a:prstGeom prst="line">
            <a:avLst/>
          </a:prstGeom>
          <a:noFill/>
          <a:ln w="9525">
            <a:solidFill>
              <a:srgbClr val="8A7A6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647127" y="1859511"/>
            <a:ext cx="219456" cy="219456"/>
          </a:xfrm>
          <a:prstGeom prst="ellipse">
            <a:avLst/>
          </a:prstGeom>
          <a:solidFill>
            <a:srgbClr val="B4863C"/>
          </a:solidFill>
          <a:ln w="9525">
            <a:solidFill>
              <a:srgbClr val="E8DCC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482535" y="209725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023360" y="1481328"/>
            <a:ext cx="0" cy="1847088"/>
          </a:xfrm>
          <a:prstGeom prst="line">
            <a:avLst/>
          </a:prstGeom>
          <a:noFill/>
          <a:ln w="12700">
            <a:solidFill>
              <a:srgbClr val="FBF6EA"/>
            </a:solidFill>
            <a:prstDash val="dash"/>
          </a:ln>
        </p:spPr>
      </p:sp>
      <p:sp>
        <p:nvSpPr>
          <p:cNvPr id="95" name="Text 93"/>
          <p:cNvSpPr/>
          <p:nvPr/>
        </p:nvSpPr>
        <p:spPr>
          <a:xfrm>
            <a:off x="3767328" y="14996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播放头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548640" y="3621024"/>
            <a:ext cx="2542032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94944" y="36941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坐标映射</a:t>
            </a:r>
            <a:endParaRPr lang="en-US" sz="1150" dirty="0"/>
          </a:p>
        </p:txBody>
      </p:sp>
      <p:sp>
        <p:nvSpPr>
          <p:cNvPr id="98" name="Text 96"/>
          <p:cNvSpPr/>
          <p:nvPr/>
        </p:nvSpPr>
        <p:spPr>
          <a:xfrm>
            <a:off x="694944" y="3950208"/>
            <a:ext cx="2267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年份按最小/最大值线性映射到曲线横坐标，曲线本身用正弦叠加生成。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3255264" y="3621024"/>
            <a:ext cx="2542032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401568" y="36941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错层避让</a:t>
            </a:r>
            <a:endParaRPr lang="en-US" sz="1150" dirty="0"/>
          </a:p>
        </p:txBody>
      </p:sp>
      <p:sp>
        <p:nvSpPr>
          <p:cNvPr id="101" name="Text 99"/>
          <p:cNvSpPr/>
          <p:nvPr/>
        </p:nvSpPr>
        <p:spPr>
          <a:xfrm>
            <a:off x="3401568" y="3950208"/>
            <a:ext cx="2267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同一时代内横向过近的节点分配到不同纵向层，层距 66px 画布单位。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5961888" y="3621024"/>
            <a:ext cx="2542032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108192" y="36941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播放头交互</a:t>
            </a:r>
            <a:endParaRPr lang="en-US" sz="1150" dirty="0"/>
          </a:p>
        </p:txBody>
      </p:sp>
      <p:sp>
        <p:nvSpPr>
          <p:cNvPr id="104" name="Text 102"/>
          <p:cNvSpPr/>
          <p:nvPr/>
        </p:nvSpPr>
        <p:spPr>
          <a:xfrm>
            <a:off x="6108192" y="3950208"/>
            <a:ext cx="2267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可播放流转，也支持点击朝代条聚焦某个时代并高亮对应钱币。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502920" y="4718304"/>
            <a:ext cx="8138160" cy="9144"/>
          </a:xfrm>
          <a:prstGeom prst="rect">
            <a:avLst/>
          </a:prstGeom>
          <a:solidFill>
            <a:srgbClr val="D8C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02920" y="475488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1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中国古代钱币知识图谱 · 项目技术汇报</a:t>
            </a:r>
            <a:endParaRPr lang="en-US" sz="950" dirty="0"/>
          </a:p>
        </p:txBody>
      </p:sp>
      <p:sp>
        <p:nvSpPr>
          <p:cNvPr id="107" name="Text 105"/>
          <p:cNvSpPr/>
          <p:nvPr/>
        </p:nvSpPr>
        <p:spPr>
          <a:xfrm>
            <a:off x="7863840" y="47548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8580" cy="420624"/>
          </a:xfrm>
          <a:prstGeom prst="rect">
            <a:avLst/>
          </a:prstGeom>
          <a:solidFill>
            <a:srgbClr val="B48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功能三：交互式本体图谱 · 让每个实体变成一枚钱币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7782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中央为钱币实例，外围为本体实体，连线表示关系方向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8138160" cy="10973"/>
          </a:xfrm>
          <a:prstGeom prst="rect">
            <a:avLst/>
          </a:prstGeom>
          <a:solidFill>
            <a:srgbClr val="D8C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4434840" cy="3200400"/>
          </a:xfrm>
          <a:prstGeom prst="roundRect">
            <a:avLst>
              <a:gd name="adj" fmla="val 1714"/>
            </a:avLst>
          </a:prstGeom>
          <a:solidFill>
            <a:srgbClr val="FBF7EE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761488" y="1719072"/>
            <a:ext cx="0" cy="1207008"/>
          </a:xfrm>
          <a:prstGeom prst="line">
            <a:avLst/>
          </a:prstGeom>
          <a:noFill/>
          <a:ln w="11430">
            <a:solidFill>
              <a:srgbClr val="C9A4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23744" y="1481328"/>
            <a:ext cx="475488" cy="47548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486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627632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政权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 flipV="1">
            <a:off x="2761488" y="2150230"/>
            <a:ext cx="1134763" cy="775850"/>
          </a:xfrm>
          <a:prstGeom prst="line">
            <a:avLst/>
          </a:prstGeom>
          <a:noFill/>
          <a:ln w="11430">
            <a:solidFill>
              <a:srgbClr val="C9A4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8507" y="1912486"/>
            <a:ext cx="475488" cy="47548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486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2203" y="205879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铸造机构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61488" y="2926080"/>
            <a:ext cx="1466912" cy="167983"/>
          </a:xfrm>
          <a:prstGeom prst="line">
            <a:avLst/>
          </a:prstGeom>
          <a:noFill/>
          <a:ln w="11430">
            <a:solidFill>
              <a:srgbClr val="C9A4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90656" y="2856319"/>
            <a:ext cx="475488" cy="47548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486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4352" y="3002623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年号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61488" y="2926080"/>
            <a:ext cx="828348" cy="1000655"/>
          </a:xfrm>
          <a:prstGeom prst="line">
            <a:avLst/>
          </a:prstGeom>
          <a:noFill/>
          <a:ln w="11430">
            <a:solidFill>
              <a:srgbClr val="C9A4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52092" y="3688991"/>
            <a:ext cx="475488" cy="47548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486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5788" y="3835295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钱币类型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 flipH="1">
            <a:off x="2403122" y="2926080"/>
            <a:ext cx="358366" cy="1171155"/>
          </a:xfrm>
          <a:prstGeom prst="line">
            <a:avLst/>
          </a:prstGeom>
          <a:noFill/>
          <a:ln w="11430">
            <a:solidFill>
              <a:srgbClr val="C9A4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65378" y="3859491"/>
            <a:ext cx="475488" cy="47548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486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9074" y="4005795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地区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 flipH="1">
            <a:off x="1453553" y="2926080"/>
            <a:ext cx="1307935" cy="566656"/>
          </a:xfrm>
          <a:prstGeom prst="line">
            <a:avLst/>
          </a:prstGeom>
          <a:noFill/>
          <a:ln w="11430">
            <a:solidFill>
              <a:srgbClr val="C9A4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15809" y="3254992"/>
            <a:ext cx="475488" cy="47548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486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9505" y="3401296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材质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 flipH="1" flipV="1">
            <a:off x="1369495" y="2513259"/>
            <a:ext cx="1391993" cy="412821"/>
          </a:xfrm>
          <a:prstGeom prst="line">
            <a:avLst/>
          </a:prstGeom>
          <a:noFill/>
          <a:ln w="11430">
            <a:solidFill>
              <a:srgbClr val="C9A4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31751" y="2275515"/>
            <a:ext cx="475488" cy="47548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486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5447" y="2421819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形制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 flipH="1" flipV="1">
            <a:off x="2206573" y="1806962"/>
            <a:ext cx="554915" cy="1119118"/>
          </a:xfrm>
          <a:prstGeom prst="line">
            <a:avLst/>
          </a:prstGeom>
          <a:noFill/>
          <a:ln w="11430">
            <a:solidFill>
              <a:srgbClr val="C9A4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68829" y="1569218"/>
            <a:ext cx="475488" cy="47548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486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2525" y="1715522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书体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377440" y="2542032"/>
            <a:ext cx="768096" cy="768096"/>
          </a:xfrm>
          <a:prstGeom prst="ellipse">
            <a:avLst/>
          </a:prstGeom>
          <a:solidFill>
            <a:srgbClr val="B4863C"/>
          </a:solidFill>
          <a:ln w="19050">
            <a:solidFill>
              <a:srgbClr val="FBF6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70048" y="2834640"/>
            <a:ext cx="182880" cy="182880"/>
          </a:xfrm>
          <a:prstGeom prst="rect">
            <a:avLst/>
          </a:prstGeom>
          <a:solidFill>
            <a:srgbClr val="FBF6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77440" y="338328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钱币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230368" y="1371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四种交互行为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230368" y="1719072"/>
            <a:ext cx="3364992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76672" y="17739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悬停高亮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376672" y="19933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鼠标移入节点即高亮其全部关系，移出恢复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230368" y="2414016"/>
            <a:ext cx="3364992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76672" y="24688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点击定位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376672" y="26883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点击连线标签、关系卡片或表格行，图谱滚动定位到对应关系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230368" y="3108960"/>
            <a:ext cx="3364992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76672" y="316382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层级筛选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376672" y="33832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点击九层图例，按本体层级筛选高亮实体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230368" y="3803904"/>
            <a:ext cx="3364992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76672" y="38587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状态栏说明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376672" y="40782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悬停类型标签，下方状态栏显示该层的定义与职责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230368" y="4443984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图谱数据由前端的 ONTO_NODES / ONTO_EDGES 与后端 12 张实体表共同支撑，交互状态集中在一个 ontoState 对象中管理。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02920" y="4718304"/>
            <a:ext cx="8138160" cy="9144"/>
          </a:xfrm>
          <a:prstGeom prst="rect">
            <a:avLst/>
          </a:prstGeom>
          <a:solidFill>
            <a:srgbClr val="D8C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75488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1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中国古代钱币知识图谱 · 项目技术汇报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863840" y="47548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8580" cy="420624"/>
          </a:xfrm>
          <a:prstGeom prst="rect">
            <a:avLst/>
          </a:prstGeom>
          <a:solidFill>
            <a:srgbClr val="B48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质量保障：做了哪些检查，边界在哪里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7782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工程上以自动化检查为主，视觉部分保持诚实披露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8138160" cy="10973"/>
          </a:xfrm>
          <a:prstGeom prst="rect">
            <a:avLst/>
          </a:prstGeom>
          <a:solidFill>
            <a:srgbClr val="D8C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26464"/>
            <a:ext cx="254203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语法检查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865376"/>
            <a:ext cx="548640" cy="27432"/>
          </a:xfrm>
          <a:prstGeom prst="rect">
            <a:avLst/>
          </a:prstGeom>
          <a:solidFill>
            <a:srgbClr val="B48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11680"/>
            <a:ext cx="22311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app.js 执行 node --check，确保打包进前端前无语法错误。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55264" y="1426464"/>
            <a:ext cx="254203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9856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接口冒烟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19856" y="1865376"/>
            <a:ext cx="548640" cy="27432"/>
          </a:xfrm>
          <a:prstGeom prst="rect">
            <a:avLst/>
          </a:prstGeom>
          <a:solidFill>
            <a:srgbClr val="B48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9856" y="2011680"/>
            <a:ext cx="22311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逐个请求页面与静态资源，确认返回 HTTP 200，路由与静态文件映射正确。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61888" y="1426464"/>
            <a:ext cx="254203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数据一致性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1865376"/>
            <a:ext cx="548640" cy="27432"/>
          </a:xfrm>
          <a:prstGeom prst="rect">
            <a:avLst/>
          </a:prstGeom>
          <a:solidFill>
            <a:srgbClr val="B48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011680"/>
            <a:ext cx="22311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SQL 直接核对钱币总数、时代分组、材质与形制分布，与界面展示对齐。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3467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 / 未验证 边界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639312"/>
            <a:ext cx="397764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7124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9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13232" y="3968496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代码语法、接口可达性、数据统计口径、页面结构完整性。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45152" y="3639312"/>
            <a:ext cx="3950208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D8C9A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3712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5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尚未验证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09744" y="3968496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E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缺少真实浏览器环境下的像素级视觉回归与多端一致性测试，需在正式环境中补测。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718304"/>
            <a:ext cx="8138160" cy="9144"/>
          </a:xfrm>
          <a:prstGeom prst="rect">
            <a:avLst/>
          </a:prstGeom>
          <a:solidFill>
            <a:srgbClr val="D8C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75488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1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中国古代钱币知识图谱 · 项目技术汇报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863840" y="47548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2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B48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48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5528" y="1243584"/>
            <a:ext cx="1280160" cy="14630"/>
          </a:xfrm>
          <a:prstGeom prst="rect">
            <a:avLst/>
          </a:prstGeom>
          <a:solidFill>
            <a:srgbClr val="B48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3533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9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以下为后续设想，尚未全部实现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" y="18288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89888" y="181051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F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补全关系三元组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89888" y="212140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C4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relationships 表目前为空，计划把 already 建模的 15 类关系真正写入，让图谱从“展示”走向“可推理”。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5528" y="279806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89888" y="277977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F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扩充数据与断代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89888" y="30906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C4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沿现有字段规范继续从工具书抽取，覆盖更多朝代与版式，并逐步启用 CoinType 抽象层做类型聚合。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5528" y="376732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86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89888" y="374904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F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完善工程细节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89888" y="405993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C4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接入生产级翻译与图像资源、补充浏览器端自动化测试，并补齐部署与备份流程。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95528" y="45171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感谢聆听，敬请指正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2026-10-22T04:22:56Z</dcterms:created>
  <dcterms:modified xsi:type="dcterms:W3CDTF">2026-10-22T04:22:56Z</dcterms:modified>
</cp:coreProperties>
</file>